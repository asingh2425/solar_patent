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5"/>
  </p:notesMasterIdLst>
  <p:sldIdLst>
    <p:sldId id="261" r:id="rId3"/>
    <p:sldId id="257" r:id="rId4"/>
  </p:sldIdLst>
  <p:sldSz cx="6858000" cy="9906000" type="A4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glsJZ29+aH/pV4gcwqXaWYLEmZ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iran S G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13" autoAdjust="0"/>
    <p:restoredTop sz="94660"/>
  </p:normalViewPr>
  <p:slideViewPr>
    <p:cSldViewPr snapToGrid="0">
      <p:cViewPr varScale="1">
        <p:scale>
          <a:sx n="54" d="100"/>
          <a:sy n="54" d="100"/>
        </p:scale>
        <p:origin x="2923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60613" y="1143000"/>
            <a:ext cx="213677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 dirty="0"/>
          </a:p>
        </p:txBody>
      </p:sp>
      <p:sp>
        <p:nvSpPr>
          <p:cNvPr id="111" name="Google Shape;11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3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9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8" name="Google Shape;68;p21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9" name="Google Shape;69;p2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2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4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4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237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>
            <a:spLocks noGrp="1"/>
          </p:cNvSpPr>
          <p:nvPr>
            <p:ph type="pic" idx="2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20" name="Google Shape;20;p7"/>
          <p:cNvSpPr txBox="1">
            <a:spLocks noGrp="1"/>
          </p:cNvSpPr>
          <p:nvPr>
            <p:ph type="body" idx="1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21" name="Google Shape;21;p7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708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8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8075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00003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23751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3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4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5550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686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400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2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32488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674846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6998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sz="33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553262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3"/>
          <p:cNvGrpSpPr/>
          <p:nvPr/>
        </p:nvGrpSpPr>
        <p:grpSpPr>
          <a:xfrm>
            <a:off x="4452806" y="199042"/>
            <a:ext cx="2405194" cy="603989"/>
            <a:chOff x="3671703" y="-117395"/>
            <a:chExt cx="3109249" cy="312787"/>
          </a:xfrm>
        </p:grpSpPr>
        <p:sp>
          <p:nvSpPr>
            <p:cNvPr id="127" name="Google Shape;127;p3"/>
            <p:cNvSpPr txBox="1"/>
            <p:nvPr/>
          </p:nvSpPr>
          <p:spPr>
            <a:xfrm>
              <a:off x="3671703" y="-117395"/>
              <a:ext cx="3109249" cy="15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TOTAL NO. OF PAGES: 02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"/>
            <p:cNvSpPr txBox="1"/>
            <p:nvPr/>
          </p:nvSpPr>
          <p:spPr>
            <a:xfrm>
              <a:off x="3684863" y="36025"/>
              <a:ext cx="2122119" cy="1593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rPr>
                <a:t>PAGE NO.:     01</a:t>
              </a:r>
              <a:endPara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3"/>
          <p:cNvSpPr txBox="1"/>
          <p:nvPr/>
        </p:nvSpPr>
        <p:spPr>
          <a:xfrm>
            <a:off x="3212592" y="8568684"/>
            <a:ext cx="1240214" cy="3174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63"/>
              <a:buFont typeface="Arial"/>
              <a:buNone/>
              <a:tabLst/>
              <a:defRPr/>
            </a:pPr>
            <a:r>
              <a:rPr kumimoji="0" lang="en-US" sz="1463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FIG.</a:t>
            </a:r>
            <a:r>
              <a:rPr lang="en-US" sz="1463" b="1" dirty="0"/>
              <a:t>1</a:t>
            </a:r>
            <a:endParaRPr kumimoji="0" sz="1463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" name="Google Shape;135;p3"/>
          <p:cNvCxnSpPr/>
          <p:nvPr/>
        </p:nvCxnSpPr>
        <p:spPr>
          <a:xfrm>
            <a:off x="366662" y="1770298"/>
            <a:ext cx="1217400" cy="5952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36" name="Google Shape;136;p3"/>
          <p:cNvSpPr txBox="1"/>
          <p:nvPr/>
        </p:nvSpPr>
        <p:spPr>
          <a:xfrm>
            <a:off x="1585646" y="2173335"/>
            <a:ext cx="13874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100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0" y="136346"/>
            <a:ext cx="4462986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NAME OF THE APPLICANT 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3F6DEE5-BCF5-EAF4-E8D5-D092F09E4676}"/>
              </a:ext>
            </a:extLst>
          </p:cNvPr>
          <p:cNvSpPr/>
          <p:nvPr/>
        </p:nvSpPr>
        <p:spPr>
          <a:xfrm>
            <a:off x="242889" y="2675280"/>
            <a:ext cx="6362628" cy="57403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8D4FD6-167B-A3E4-CD3A-9D97FEB41D23}"/>
              </a:ext>
            </a:extLst>
          </p:cNvPr>
          <p:cNvSpPr/>
          <p:nvPr/>
        </p:nvSpPr>
        <p:spPr>
          <a:xfrm>
            <a:off x="673429" y="3077350"/>
            <a:ext cx="2729552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VEHICLE AND PV DATA ACQUISITION MODULE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3A8F8C-E765-AC04-E0EC-D67887365326}"/>
              </a:ext>
            </a:extLst>
          </p:cNvPr>
          <p:cNvSpPr/>
          <p:nvPr/>
        </p:nvSpPr>
        <p:spPr>
          <a:xfrm>
            <a:off x="3655325" y="3077350"/>
            <a:ext cx="2729552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SENSOR PREPROCESSING AND FEATURE NORMALIZATION UNIT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6E8F6-BA7D-1359-C6D2-A94118A96887}"/>
              </a:ext>
            </a:extLst>
          </p:cNvPr>
          <p:cNvSpPr/>
          <p:nvPr/>
        </p:nvSpPr>
        <p:spPr>
          <a:xfrm>
            <a:off x="633553" y="4415313"/>
            <a:ext cx="2729552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QUANTUM DATA ENCODING AND STATE PREPARATION MODULE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105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C19750-F2CD-D25F-308A-7A0669DEA59B}"/>
              </a:ext>
            </a:extLst>
          </p:cNvPr>
          <p:cNvSpPr/>
          <p:nvPr/>
        </p:nvSpPr>
        <p:spPr>
          <a:xfrm>
            <a:off x="3619533" y="4415313"/>
            <a:ext cx="2765343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 QUANTUM NEURAL NETWORK (QNN) CIRCUIT EXECUTION ENGINE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3F91F1-EA08-E5D7-FA72-B59800436B21}"/>
              </a:ext>
            </a:extLst>
          </p:cNvPr>
          <p:cNvSpPr/>
          <p:nvPr/>
        </p:nvSpPr>
        <p:spPr>
          <a:xfrm>
            <a:off x="673429" y="5723392"/>
            <a:ext cx="2689676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HYBRID QUANTUM–CLASSICAL OPTIMIZATION UNIT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109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8669A5A-97C4-574A-A09A-682E1A0A540C}"/>
              </a:ext>
            </a:extLst>
          </p:cNvPr>
          <p:cNvSpPr/>
          <p:nvPr/>
        </p:nvSpPr>
        <p:spPr>
          <a:xfrm>
            <a:off x="3619532" y="5723392"/>
            <a:ext cx="2765343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SOC PREDICTION AND SHORT-HORIZON FORECASTING MODULE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111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97E004-58C7-B53E-F61C-84F67039107E}"/>
              </a:ext>
            </a:extLst>
          </p:cNvPr>
          <p:cNvSpPr/>
          <p:nvPr/>
        </p:nvSpPr>
        <p:spPr>
          <a:xfrm>
            <a:off x="2079365" y="7069486"/>
            <a:ext cx="2689676" cy="1105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BATTERY MANAGEMENT SYSTEM INTERFACE AND REAL-TIME OUTPUT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113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114;p2"/>
          <p:cNvGrpSpPr/>
          <p:nvPr/>
        </p:nvGrpSpPr>
        <p:grpSpPr>
          <a:xfrm>
            <a:off x="4393326" y="199259"/>
            <a:ext cx="2249590" cy="617365"/>
            <a:chOff x="3671703" y="-117395"/>
            <a:chExt cx="3109249" cy="453887"/>
          </a:xfrm>
        </p:grpSpPr>
        <p:sp>
          <p:nvSpPr>
            <p:cNvPr id="115" name="Google Shape;115;p2"/>
            <p:cNvSpPr txBox="1"/>
            <p:nvPr/>
          </p:nvSpPr>
          <p:spPr>
            <a:xfrm>
              <a:off x="3671703" y="-117395"/>
              <a:ext cx="3109249" cy="22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TOTAL NO. OF PAGES:0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3718420" y="110244"/>
              <a:ext cx="2122120" cy="226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PAGE NO.:     0</a:t>
              </a:r>
              <a:r>
                <a:rPr lang="en-US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18492" y="68776"/>
            <a:ext cx="486347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buSzPts val="1600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NAME OF THE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APPLICANT:</a:t>
            </a:r>
            <a:endParaRPr lang="en-US"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2723624" y="9023424"/>
            <a:ext cx="90059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FIG.2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CEDC518-7D25-6696-9C71-301F6DD00D09}"/>
              </a:ext>
            </a:extLst>
          </p:cNvPr>
          <p:cNvGrpSpPr/>
          <p:nvPr/>
        </p:nvGrpSpPr>
        <p:grpSpPr>
          <a:xfrm>
            <a:off x="358779" y="971551"/>
            <a:ext cx="6499221" cy="7792210"/>
            <a:chOff x="358779" y="1145058"/>
            <a:chExt cx="6284137" cy="748074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AE02C9D-0805-C974-6895-D0F18D814504}"/>
                </a:ext>
              </a:extLst>
            </p:cNvPr>
            <p:cNvGrpSpPr/>
            <p:nvPr/>
          </p:nvGrpSpPr>
          <p:grpSpPr>
            <a:xfrm>
              <a:off x="358779" y="1145058"/>
              <a:ext cx="6284137" cy="5453471"/>
              <a:chOff x="358779" y="988591"/>
              <a:chExt cx="6257571" cy="6676568"/>
            </a:xfrm>
          </p:grpSpPr>
          <p:sp>
            <p:nvSpPr>
              <p:cNvPr id="117" name="Google Shape;117;p2"/>
              <p:cNvSpPr/>
              <p:nvPr/>
            </p:nvSpPr>
            <p:spPr>
              <a:xfrm>
                <a:off x="358788" y="988591"/>
                <a:ext cx="4952248" cy="100511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buSzPts val="1463"/>
                  <a:defRPr/>
                </a:pPr>
                <a:r>
                  <a:rPr lang="en-US" sz="1200" dirty="0"/>
                  <a:t>COLLECT VEHICLE, BATTERY, AND PV DATA VIA MODULE </a:t>
                </a:r>
                <a:r>
                  <a:rPr lang="en-US" sz="1200" b="1" dirty="0"/>
                  <a:t>101</a:t>
                </a:r>
                <a:endParaRPr lang="en-US" sz="12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358786" y="2256525"/>
                <a:ext cx="4952249" cy="1059459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sz="1200" dirty="0"/>
                  <a:t>PREPROCESS AND NORMALIZE INPUT FEATURES USING UNIT </a:t>
                </a:r>
                <a:r>
                  <a:rPr lang="en-US" sz="1200" b="1" dirty="0"/>
                  <a:t>103</a:t>
                </a:r>
              </a:p>
            </p:txBody>
          </p:sp>
          <p:cxnSp>
            <p:nvCxnSpPr>
              <p:cNvPr id="119" name="Google Shape;119;p2"/>
              <p:cNvCxnSpPr/>
              <p:nvPr/>
            </p:nvCxnSpPr>
            <p:spPr>
              <a:xfrm>
                <a:off x="5311028" y="1596879"/>
                <a:ext cx="491700" cy="326700"/>
              </a:xfrm>
              <a:prstGeom prst="curved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20" name="Google Shape;120;p2"/>
              <p:cNvCxnSpPr/>
              <p:nvPr/>
            </p:nvCxnSpPr>
            <p:spPr>
              <a:xfrm>
                <a:off x="5311028" y="2802683"/>
                <a:ext cx="549000" cy="319800"/>
              </a:xfrm>
              <a:prstGeom prst="curvedConnector3">
                <a:avLst>
                  <a:gd name="adj1" fmla="val 50006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21" name="Google Shape;121;p2"/>
              <p:cNvSpPr txBox="1"/>
              <p:nvPr/>
            </p:nvSpPr>
            <p:spPr>
              <a:xfrm>
                <a:off x="5694247" y="1747296"/>
                <a:ext cx="734465" cy="325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201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2" name="Google Shape;122;p2"/>
              <p:cNvCxnSpPr/>
              <p:nvPr/>
            </p:nvCxnSpPr>
            <p:spPr>
              <a:xfrm>
                <a:off x="2876629" y="1993705"/>
                <a:ext cx="0" cy="25281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24" name="Google Shape;124;p2"/>
              <p:cNvSpPr/>
              <p:nvPr/>
            </p:nvSpPr>
            <p:spPr>
              <a:xfrm>
                <a:off x="358780" y="3568797"/>
                <a:ext cx="4952249" cy="100511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sz="1200" dirty="0"/>
                  <a:t>ENCODE CLASSICAL FEATURES INTO QUANTUM STATES USING MODULE </a:t>
                </a:r>
                <a:r>
                  <a:rPr lang="en-US" sz="1200" b="1" dirty="0"/>
                  <a:t>105</a:t>
                </a:r>
              </a:p>
            </p:txBody>
          </p:sp>
          <p:cxnSp>
            <p:nvCxnSpPr>
              <p:cNvPr id="125" name="Google Shape;125;p2"/>
              <p:cNvCxnSpPr/>
              <p:nvPr/>
            </p:nvCxnSpPr>
            <p:spPr>
              <a:xfrm>
                <a:off x="2900343" y="3315984"/>
                <a:ext cx="0" cy="25281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130" name="Google Shape;130;p2"/>
              <p:cNvCxnSpPr/>
              <p:nvPr/>
            </p:nvCxnSpPr>
            <p:spPr>
              <a:xfrm>
                <a:off x="5311027" y="4049799"/>
                <a:ext cx="491700" cy="326700"/>
              </a:xfrm>
              <a:prstGeom prst="curved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33" name="Google Shape;133;p2"/>
              <p:cNvSpPr txBox="1"/>
              <p:nvPr/>
            </p:nvSpPr>
            <p:spPr>
              <a:xfrm>
                <a:off x="5802728" y="2946692"/>
                <a:ext cx="658782" cy="325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03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2"/>
              <p:cNvSpPr txBox="1"/>
              <p:nvPr/>
            </p:nvSpPr>
            <p:spPr>
              <a:xfrm>
                <a:off x="5707895" y="4204238"/>
                <a:ext cx="848447" cy="325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05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" name="Google Shape;124;p2">
                <a:extLst>
                  <a:ext uri="{FF2B5EF4-FFF2-40B4-BE49-F238E27FC236}">
                    <a16:creationId xmlns:a16="http://schemas.microsoft.com/office/drawing/2014/main" id="{C9F7C4C3-1047-A9D6-05CF-95F38793C74E}"/>
                  </a:ext>
                </a:extLst>
              </p:cNvPr>
              <p:cNvSpPr/>
              <p:nvPr/>
            </p:nvSpPr>
            <p:spPr>
              <a:xfrm>
                <a:off x="358779" y="4839848"/>
                <a:ext cx="4952249" cy="1091397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buSzPts val="1200"/>
                </a:pPr>
                <a:r>
                  <a:rPr lang="en-US" sz="1200" dirty="0"/>
                  <a:t>EXECUTE PARAMETERIZED QUANTUM CIRCUIT WITHIN QNN ENGINE </a:t>
                </a:r>
                <a:r>
                  <a:rPr lang="en-US" sz="1200" b="1" dirty="0"/>
                  <a:t>107</a:t>
                </a:r>
              </a:p>
            </p:txBody>
          </p:sp>
          <p:cxnSp>
            <p:nvCxnSpPr>
              <p:cNvPr id="3" name="Google Shape;125;p2">
                <a:extLst>
                  <a:ext uri="{FF2B5EF4-FFF2-40B4-BE49-F238E27FC236}">
                    <a16:creationId xmlns:a16="http://schemas.microsoft.com/office/drawing/2014/main" id="{FD311FAC-6DFD-4AFE-4A91-39E5CD93211C}"/>
                  </a:ext>
                </a:extLst>
              </p:cNvPr>
              <p:cNvCxnSpPr/>
              <p:nvPr/>
            </p:nvCxnSpPr>
            <p:spPr>
              <a:xfrm>
                <a:off x="2901843" y="4573910"/>
                <a:ext cx="0" cy="25281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4" name="Google Shape;124;p2">
                <a:extLst>
                  <a:ext uri="{FF2B5EF4-FFF2-40B4-BE49-F238E27FC236}">
                    <a16:creationId xmlns:a16="http://schemas.microsoft.com/office/drawing/2014/main" id="{D8F64CA7-FE31-FEBD-F77A-B064274CAA3C}"/>
                  </a:ext>
                </a:extLst>
              </p:cNvPr>
              <p:cNvSpPr/>
              <p:nvPr/>
            </p:nvSpPr>
            <p:spPr>
              <a:xfrm>
                <a:off x="358780" y="6184059"/>
                <a:ext cx="4952248" cy="1228287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>
                  <a:buSzPts val="1200"/>
                </a:pPr>
                <a:r>
                  <a:rPr lang="en-US" sz="1200" dirty="0"/>
                  <a:t>COMPUTE LOSS AND UPDATE PARAMETERS THROUGH HYBRID OPTIMIZATION UNIT </a:t>
                </a:r>
                <a:r>
                  <a:rPr lang="en-US" sz="1200" b="1" dirty="0"/>
                  <a:t>109</a:t>
                </a:r>
              </a:p>
            </p:txBody>
          </p:sp>
          <p:cxnSp>
            <p:nvCxnSpPr>
              <p:cNvPr id="5" name="Google Shape;125;p2">
                <a:extLst>
                  <a:ext uri="{FF2B5EF4-FFF2-40B4-BE49-F238E27FC236}">
                    <a16:creationId xmlns:a16="http://schemas.microsoft.com/office/drawing/2014/main" id="{BC83A09F-1BC7-4D00-C151-B5AC09641CC6}"/>
                  </a:ext>
                </a:extLst>
              </p:cNvPr>
              <p:cNvCxnSpPr/>
              <p:nvPr/>
            </p:nvCxnSpPr>
            <p:spPr>
              <a:xfrm>
                <a:off x="2922568" y="5931246"/>
                <a:ext cx="0" cy="25281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cxnSp>
            <p:nvCxnSpPr>
              <p:cNvPr id="8" name="Google Shape;130;p2">
                <a:extLst>
                  <a:ext uri="{FF2B5EF4-FFF2-40B4-BE49-F238E27FC236}">
                    <a16:creationId xmlns:a16="http://schemas.microsoft.com/office/drawing/2014/main" id="{CAB2869E-A577-FE15-157E-D5B50695AD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04475" y="5196725"/>
                <a:ext cx="525548" cy="348420"/>
              </a:xfrm>
              <a:prstGeom prst="curved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2" name="Google Shape;134;p2">
                <a:extLst>
                  <a:ext uri="{FF2B5EF4-FFF2-40B4-BE49-F238E27FC236}">
                    <a16:creationId xmlns:a16="http://schemas.microsoft.com/office/drawing/2014/main" id="{A917FA1F-7731-6AE8-2E69-C793EEC8F301}"/>
                  </a:ext>
                </a:extLst>
              </p:cNvPr>
              <p:cNvSpPr txBox="1"/>
              <p:nvPr/>
            </p:nvSpPr>
            <p:spPr>
              <a:xfrm>
                <a:off x="5767903" y="5350440"/>
                <a:ext cx="848447" cy="325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07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3" name="Google Shape;130;p2">
                <a:extLst>
                  <a:ext uri="{FF2B5EF4-FFF2-40B4-BE49-F238E27FC236}">
                    <a16:creationId xmlns:a16="http://schemas.microsoft.com/office/drawing/2014/main" id="{D0099432-9674-C4B1-945B-4FA7A8B1B3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94103" y="6675005"/>
                <a:ext cx="525548" cy="348420"/>
              </a:xfrm>
              <a:prstGeom prst="curvedConnector3">
                <a:avLst>
                  <a:gd name="adj1" fmla="val 50000"/>
                </a:avLst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  <p:sp>
            <p:nvSpPr>
              <p:cNvPr id="14" name="Google Shape;134;p2">
                <a:extLst>
                  <a:ext uri="{FF2B5EF4-FFF2-40B4-BE49-F238E27FC236}">
                    <a16:creationId xmlns:a16="http://schemas.microsoft.com/office/drawing/2014/main" id="{9DBF1FE8-8EBF-D1E6-847E-E32327269EE5}"/>
                  </a:ext>
                </a:extLst>
              </p:cNvPr>
              <p:cNvSpPr txBox="1"/>
              <p:nvPr/>
            </p:nvSpPr>
            <p:spPr>
              <a:xfrm>
                <a:off x="5767901" y="6830278"/>
                <a:ext cx="848447" cy="3255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2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r>
                  <a:rPr lang="en-US" sz="12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09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" name="Google Shape;125;p2">
                <a:extLst>
                  <a:ext uri="{FF2B5EF4-FFF2-40B4-BE49-F238E27FC236}">
                    <a16:creationId xmlns:a16="http://schemas.microsoft.com/office/drawing/2014/main" id="{3DF50C2C-00BB-534F-0AD9-7352D26706F8}"/>
                  </a:ext>
                </a:extLst>
              </p:cNvPr>
              <p:cNvCxnSpPr/>
              <p:nvPr/>
            </p:nvCxnSpPr>
            <p:spPr>
              <a:xfrm>
                <a:off x="2902854" y="7412345"/>
                <a:ext cx="0" cy="252814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  <p:sp>
          <p:nvSpPr>
            <p:cNvPr id="10" name="Google Shape;124;p2">
              <a:extLst>
                <a:ext uri="{FF2B5EF4-FFF2-40B4-BE49-F238E27FC236}">
                  <a16:creationId xmlns:a16="http://schemas.microsoft.com/office/drawing/2014/main" id="{7ECC909A-C464-2EEB-A8E9-FBF6A8DA1730}"/>
                </a:ext>
              </a:extLst>
            </p:cNvPr>
            <p:cNvSpPr/>
            <p:nvPr/>
          </p:nvSpPr>
          <p:spPr>
            <a:xfrm>
              <a:off x="375775" y="6620715"/>
              <a:ext cx="4956276" cy="90712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n-US" sz="1200" dirty="0"/>
                <a:t>GENERATE SHORT-HORIZON SOC PREDICTION USING MODULE </a:t>
              </a:r>
              <a:r>
                <a:rPr lang="en-US" sz="1200" b="1" dirty="0"/>
                <a:t>111</a:t>
              </a:r>
            </a:p>
          </p:txBody>
        </p:sp>
        <p:sp>
          <p:nvSpPr>
            <p:cNvPr id="15" name="Google Shape;124;p2">
              <a:extLst>
                <a:ext uri="{FF2B5EF4-FFF2-40B4-BE49-F238E27FC236}">
                  <a16:creationId xmlns:a16="http://schemas.microsoft.com/office/drawing/2014/main" id="{1C57E14C-8AC9-0EC4-5D56-8939262C12C7}"/>
                </a:ext>
              </a:extLst>
            </p:cNvPr>
            <p:cNvSpPr/>
            <p:nvPr/>
          </p:nvSpPr>
          <p:spPr>
            <a:xfrm>
              <a:off x="358779" y="7734338"/>
              <a:ext cx="4973272" cy="89146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>
                <a:buSzPts val="1200"/>
              </a:pPr>
              <a:r>
                <a:rPr lang="en-US" sz="1200" dirty="0"/>
                <a:t>DELIVER REAL-TIME OUTPUT TO BATTERY MANAGEMENT SYSTEM THROUGH UNIT </a:t>
              </a:r>
              <a:r>
                <a:rPr lang="en-US" sz="1200" b="1" dirty="0"/>
                <a:t>113</a:t>
              </a:r>
            </a:p>
          </p:txBody>
        </p:sp>
        <p:cxnSp>
          <p:nvCxnSpPr>
            <p:cNvPr id="16" name="Google Shape;125;p2">
              <a:extLst>
                <a:ext uri="{FF2B5EF4-FFF2-40B4-BE49-F238E27FC236}">
                  <a16:creationId xmlns:a16="http://schemas.microsoft.com/office/drawing/2014/main" id="{1B1B15B6-8892-F63E-B6E9-CB7F9422060F}"/>
                </a:ext>
              </a:extLst>
            </p:cNvPr>
            <p:cNvCxnSpPr/>
            <p:nvPr/>
          </p:nvCxnSpPr>
          <p:spPr>
            <a:xfrm>
              <a:off x="2927303" y="7514536"/>
              <a:ext cx="0" cy="206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7" name="Google Shape;130;p2">
              <a:extLst>
                <a:ext uri="{FF2B5EF4-FFF2-40B4-BE49-F238E27FC236}">
                  <a16:creationId xmlns:a16="http://schemas.microsoft.com/office/drawing/2014/main" id="{593EF37D-8141-C998-D41D-2053587F9794}"/>
                </a:ext>
              </a:extLst>
            </p:cNvPr>
            <p:cNvCxnSpPr>
              <a:cxnSpLocks/>
            </p:cNvCxnSpPr>
            <p:nvPr/>
          </p:nvCxnSpPr>
          <p:spPr>
            <a:xfrm>
              <a:off x="5302274" y="7070589"/>
              <a:ext cx="527779" cy="284592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18" name="Google Shape;134;p2">
              <a:extLst>
                <a:ext uri="{FF2B5EF4-FFF2-40B4-BE49-F238E27FC236}">
                  <a16:creationId xmlns:a16="http://schemas.microsoft.com/office/drawing/2014/main" id="{89FFB599-075C-5CE9-341E-2369E8A5F285}"/>
                </a:ext>
              </a:extLst>
            </p:cNvPr>
            <p:cNvSpPr txBox="1"/>
            <p:nvPr/>
          </p:nvSpPr>
          <p:spPr>
            <a:xfrm>
              <a:off x="5762332" y="7169722"/>
              <a:ext cx="852049" cy="265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 dirty="0">
                  <a:solidFill>
                    <a:schemeClr val="dk1"/>
                  </a:solidFill>
                </a:rPr>
                <a:t>211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" name="Google Shape;130;p2">
              <a:extLst>
                <a:ext uri="{FF2B5EF4-FFF2-40B4-BE49-F238E27FC236}">
                  <a16:creationId xmlns:a16="http://schemas.microsoft.com/office/drawing/2014/main" id="{D6CD0D99-E5CE-63CA-929B-BC3BBC47C0CD}"/>
                </a:ext>
              </a:extLst>
            </p:cNvPr>
            <p:cNvCxnSpPr>
              <a:cxnSpLocks/>
            </p:cNvCxnSpPr>
            <p:nvPr/>
          </p:nvCxnSpPr>
          <p:spPr>
            <a:xfrm>
              <a:off x="5332051" y="7977228"/>
              <a:ext cx="527779" cy="284592"/>
            </a:xfrm>
            <a:prstGeom prst="curvedConnector3">
              <a:avLst>
                <a:gd name="adj1" fmla="val 5000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sp>
          <p:nvSpPr>
            <p:cNvPr id="20" name="Google Shape;134;p2">
              <a:extLst>
                <a:ext uri="{FF2B5EF4-FFF2-40B4-BE49-F238E27FC236}">
                  <a16:creationId xmlns:a16="http://schemas.microsoft.com/office/drawing/2014/main" id="{7E8ED0AC-87FC-F9F1-07D5-2AC0C9929C27}"/>
                </a:ext>
              </a:extLst>
            </p:cNvPr>
            <p:cNvSpPr txBox="1"/>
            <p:nvPr/>
          </p:nvSpPr>
          <p:spPr>
            <a:xfrm>
              <a:off x="5790865" y="8089471"/>
              <a:ext cx="852049" cy="265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200" dirty="0">
                  <a:solidFill>
                    <a:schemeClr val="dk1"/>
                  </a:solidFill>
                </a:rPr>
                <a:t>213</a:t>
              </a:r>
              <a:endParaRPr sz="12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2877</TotalTime>
  <Words>165</Words>
  <Application>Microsoft Office PowerPoint</Application>
  <PresentationFormat>A4 Paper (210x297 mm)</PresentationFormat>
  <Paragraphs>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Play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UDITH NAYAK - 220970029 - MITMPL</dc:creator>
  <cp:lastModifiedBy>Astrarea Reserch</cp:lastModifiedBy>
  <cp:revision>133</cp:revision>
  <dcterms:created xsi:type="dcterms:W3CDTF">2024-03-07T13:11:26Z</dcterms:created>
  <dcterms:modified xsi:type="dcterms:W3CDTF">2025-12-12T08:34:29Z</dcterms:modified>
</cp:coreProperties>
</file>